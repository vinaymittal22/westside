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572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BURNT
TOAST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×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383280"/>
            <a:ext cx="31089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56616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AI FASHION
STYLIST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217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AA"/>
                </a:solidFill>
                <a:latin typeface="Calibri"/>
              </a:rPr>
              <a:t>Testing &amp; Demo Phase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Dress Smarter.
Shop Better.
Feel Confident.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840480"/>
            <a:ext cx="5943600" cy="36576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02336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8782"/>
                </a:solidFill>
                <a:latin typeface="Calibri"/>
              </a:rPr>
              <a:t>An AI-powered personal stylist built into Burnt Toast's
shopping experience — designed for Gen Z, built for growth.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949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6A48"/>
                </a:solidFill>
                <a:latin typeface="Calibri"/>
              </a:rPr>
              <a:t>Meet  TOASTIE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52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8782"/>
                </a:solidFill>
                <a:latin typeface="Calibri"/>
              </a:rPr>
              <a:t>CONFIDENTIAL  |  BUSINESS PRESENTATION  |  TATA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We'll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Why Gen Z needs something different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3716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783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What Toastie does &amp; how it works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514600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514600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788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017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Core capabilities of the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514600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514600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788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Business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017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Engagement, conversions &amp; 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749039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49039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02335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8404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Why It's Different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2519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Toastie vs. a regular chatbot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749039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49039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402335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4047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Future Roadmap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25195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Scalability &amp; what's coming next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983480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983480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257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074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Market Opportunity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486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Gen Z + fashion e-commerce growth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983480"/>
            <a:ext cx="5669280" cy="1005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4983480"/>
            <a:ext cx="50292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5257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0749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4864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From demo to full product launch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8782"/>
                </a:solidFill>
                <a:latin typeface="Calibri"/>
              </a:rPr>
              <a:t>A focused, business-first walkthrough — no technical jargon, just clear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Why today's online shopping experience is broken for Gen 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C8860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6A48"/>
                </a:solidFill>
                <a:latin typeface="Calibri"/>
              </a:rPr>
              <a:t>Decision Fatigue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788920"/>
            <a:ext cx="2011680" cy="18288"/>
          </a:xfrm>
          <a:prstGeom prst="rect">
            <a:avLst/>
          </a:prstGeom>
          <a:solidFill>
            <a:srgbClr val="8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Calibri"/>
              </a:rPr>
              <a:t>Hundreds of products, zero guidance.
Shoppers don't know what works together.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28016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743200" cy="7315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417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6A48"/>
                </a:solidFill>
                <a:latin typeface="Calibri"/>
              </a:rPr>
              <a:t>High Cart Abandonment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788920"/>
            <a:ext cx="2011680" cy="18288"/>
          </a:xfrm>
          <a:prstGeom prst="rect">
            <a:avLst/>
          </a:prstGeom>
          <a:solidFill>
            <a:srgbClr val="8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9260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Calibri"/>
              </a:rPr>
              <a:t>Over 70% of carts are abandoned.
Most shoppers leave without buying anything.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28016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2743200" cy="7315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17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6A48"/>
                </a:solidFill>
                <a:latin typeface="Calibri"/>
              </a:rPr>
              <a:t>Generic Recommendations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2788920"/>
            <a:ext cx="2011680" cy="18288"/>
          </a:xfrm>
          <a:prstGeom prst="rect">
            <a:avLst/>
          </a:prstGeom>
          <a:solidFill>
            <a:srgbClr val="8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9260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Calibri"/>
              </a:rPr>
              <a:t>"You may also like" doesn't cut it.
Gen Z wants style, not a list of products.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280160"/>
            <a:ext cx="2743200" cy="4389120"/>
          </a:xfrm>
          <a:prstGeom prst="roundRect">
            <a:avLst>
              <a:gd name="adj" fmla="val 5000"/>
            </a:avLst>
          </a:prstGeom>
          <a:solidFill>
            <a:srgbClr val="282828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1280160"/>
            <a:ext cx="2743200" cy="7315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4173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240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46A48"/>
                </a:solidFill>
                <a:latin typeface="Calibri"/>
              </a:rPr>
              <a:t>No Personal Stylist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0" y="2788920"/>
            <a:ext cx="2011680" cy="18288"/>
          </a:xfrm>
          <a:prstGeom prst="rect">
            <a:avLst/>
          </a:prstGeom>
          <a:solidFill>
            <a:srgbClr val="8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292608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CCCCC"/>
                </a:solidFill>
                <a:latin typeface="Calibri"/>
              </a:rPr>
              <a:t>In-store styling = premium experience.
Online shopping has never matched that — until now.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5852160"/>
            <a:ext cx="12188952" cy="82296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The result: lost sales, low loyalty, and a frustrated Gen Z customer who shops elsewhere.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Solution — Meet Toastie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6A48"/>
                </a:solidFill>
                <a:latin typeface="Calibri"/>
              </a:rPr>
              <a:t>Your AI-powered personal stylist, built into Burnt Toast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4630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Toastie is not a chatbot.
Toastie is your personal AI stylist — available 24/7, for every customer.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3657600" cy="7315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1A"/>
                </a:solidFill>
                <a:latin typeface="Calibr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You Talk.
Toastie Listens.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54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782"/>
                </a:solidFill>
                <a:latin typeface="Calibri"/>
              </a:rPr>
              <a:t>Tell Toastie your occasion, mood, or style — just like texting a friend.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492C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92608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926080"/>
            <a:ext cx="3657600" cy="7315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063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1A"/>
                </a:solidFill>
                <a:latin typeface="Calibri"/>
              </a:rPr>
              <a:t>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840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Toastie Builds
Your Complete Look.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754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782"/>
                </a:solidFill>
                <a:latin typeface="Calibri"/>
              </a:rPr>
              <a:t>Instant, curated outfit — top, bottom, shoes, bag, accessories. All matched.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8492C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926080"/>
            <a:ext cx="365760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2926080"/>
            <a:ext cx="3657600" cy="7315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A1A1A"/>
                </a:solidFill>
                <a:latin typeface="Calibri"/>
              </a:rPr>
              <a:t>🛍️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840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You Shop
The Whole Look.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548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782"/>
                </a:solidFill>
                <a:latin typeface="Calibri"/>
              </a:rPr>
              <a:t>Every item is clickable, swappable, and ready to add to cart — instantly.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8782"/>
                </a:solidFill>
                <a:latin typeface="Calibri"/>
              </a:rPr>
              <a:t>Zero style knowledge required. Zero waiting time. Complete outfit in under 10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How It Works — In 3 Simple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6A48"/>
                </a:solidFill>
                <a:latin typeface="Calibri"/>
              </a:rPr>
              <a:t>From first message to complete look — faster than browsing a single category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188720"/>
            <a:ext cx="3749039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749039" cy="82296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  <a:latin typeface="Calibri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Tell Toastie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3200400" cy="27432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782"/>
                </a:solidFill>
                <a:latin typeface="Calibri"/>
              </a:rPr>
              <a:t>Type your occasion, mood, or style
"Brunch look for this weekend"
"Office outfit — smart casual"
"Freshers night — something fun"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5943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E8E4DC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2918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188720"/>
            <a:ext cx="3749039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188720"/>
            <a:ext cx="3749039" cy="82296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234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  <a:latin typeface="Calibri"/>
              </a:rPr>
              <a:t>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48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Get Your 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2788920"/>
            <a:ext cx="3200400" cy="27432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9260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782"/>
                </a:solidFill>
                <a:latin typeface="Calibri"/>
              </a:rPr>
              <a:t>Toastie instantly builds a
complete styled outfit —
top, bottom, shoes, bag +
accessories, all matched.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943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E8E4DC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329184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188720"/>
            <a:ext cx="3749039" cy="5120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188720"/>
            <a:ext cx="3749039" cy="82296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234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12344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1A1A"/>
                </a:solidFill>
                <a:latin typeface="Calibri"/>
              </a:rPr>
              <a:t>🛍️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1488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  <a:latin typeface="Calibri"/>
              </a:rPr>
              <a:t>Swap, Save &amp; Shop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2788920"/>
            <a:ext cx="3200400" cy="27432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292608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782"/>
                </a:solidFill>
                <a:latin typeface="Calibri"/>
              </a:rPr>
              <a:t>Don't love a piece? Swap it.
Want different shoes? Just ask.
Love the look? Add all to cart
with one tap.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59436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 i="0">
                <a:solidFill>
                  <a:srgbClr val="E8E4DC"/>
                </a:solidFill>
                <a:latin typeface="Calibri"/>
              </a:rPr>
              <a:t>03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EBE0"/>
                </a:solidFill>
                <a:latin typeface="Calibri"/>
              </a:rPr>
              <a:t>Also works with IMAGE UPLOAD — snap a product, Toastie builds the whole outfit around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Everything Toastie can do — out of the box,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CC8860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48640" cy="23774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8"/>
                </a:solidFill>
                <a:latin typeface="Calibri"/>
              </a:rPr>
              <a:t>AI Chat Styling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202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Conversational stylist. User types naturally — Toastie understands occasion, mood &amp; style preference.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548640" cy="23774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9659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8"/>
                </a:solidFill>
                <a:latin typeface="Calibri"/>
              </a:rPr>
              <a:t>Image-Based Styling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Upload any product image — Toastie builds a complete outfit around what you already own or love.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3444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548640" cy="23774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6596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8"/>
                </a:solidFill>
                <a:latin typeface="Calibri"/>
              </a:rPr>
              <a:t>Occasion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Brunch, office, date night, freshers, IPL, airport — Toastie knows exactly what works for every moment.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8404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840480"/>
            <a:ext cx="548640" cy="23774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5720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8"/>
                </a:solidFill>
                <a:latin typeface="Calibri"/>
              </a:rPr>
              <a:t>Real-Time Swaps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5262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Swap any single item — shoes, top, bag — without regenerating the whole outfit. One tap, instant.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404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40480"/>
            <a:ext cx="548640" cy="23774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45720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🛍️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8"/>
                </a:solidFill>
                <a:latin typeface="Calibri"/>
              </a:rPr>
              <a:t>Shop the Look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5262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Every outfit item is a real, in-stock Burnt Toast product with price. Add to cart in one step.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8404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3840480"/>
            <a:ext cx="548640" cy="23774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572000"/>
            <a:ext cx="548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977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6A48"/>
                </a:solidFill>
                <a:latin typeface="Calibri"/>
              </a:rPr>
              <a:t>Vibe Customisation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5262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Smart casual, Y2K, streetwear, minimal — Toastie matches the aesthetic, not just the occasion.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8782"/>
                </a:solidFill>
                <a:latin typeface="Calibri"/>
              </a:rPr>
              <a:t>All features work on mobile and desktop. No app download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Gen Z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6A48"/>
                </a:solidFill>
                <a:latin typeface="Calibri"/>
              </a:rPr>
              <a:t>Why this audience — and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530352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Gen Z
By The
Numbers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43891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₹5.4 Lakh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2735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DCC"/>
                </a:solidFill>
                <a:latin typeface="Calibri"/>
              </a:rPr>
              <a:t>Gen Z fashion market in India by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050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07822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DCC"/>
                </a:solidFill>
                <a:latin typeface="Calibri"/>
              </a:rPr>
              <a:t>of Gen Z prefer brands that personalise the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9744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8828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DCC"/>
                </a:solidFill>
                <a:latin typeface="Calibri"/>
              </a:rPr>
              <a:t>more likely to buy a full outfit vs. single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1441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6875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DCC"/>
                </a:solidFill>
                <a:latin typeface="Calibri"/>
              </a:rPr>
              <a:t>start their shopping journey on 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6492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DDCC"/>
                </a:solidFill>
                <a:latin typeface="Calibri"/>
              </a:rPr>
              <a:t>reason for purchase: style inspiration from friends / influencers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188720"/>
            <a:ext cx="59436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188720"/>
            <a:ext cx="73152" cy="16916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They shop by vibe, not by category.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78308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Gen Z doesn't think "I need a top". They think "I need a brunch look." Toastie speaks their language.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063239"/>
            <a:ext cx="59436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3063239"/>
            <a:ext cx="73152" cy="16916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00399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They want a conversation, not a catalogue.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657599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They message friends for style advice. Toastie is that friend — available inside Burnt Toast, 24/7.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937759"/>
            <a:ext cx="5943600" cy="1691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0" y="4937759"/>
            <a:ext cx="73152" cy="16916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5074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They share looks, not products.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53212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8782"/>
                </a:solidFill>
                <a:latin typeface="Calibri"/>
              </a:rPr>
              <a:t>A full outfit is shareable content. A single T-shirt isn't. Toastie creates shareable moments.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Business Impact — Customer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6A48"/>
                </a:solidFill>
                <a:latin typeface="Calibri"/>
              </a:rPr>
              <a:t>Toastie keeps customers on-site longer and exploring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30000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More time on site  ·  More products discovered  ·  More reasons to come 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468880"/>
            <a:ext cx="2834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2834640" cy="54864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B8492C"/>
                </a:solidFill>
                <a:latin typeface="Calibri"/>
              </a:rPr>
              <a:t>4×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More Products
Viewed Per Session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2103120" cy="2286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3434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782"/>
                </a:solidFill>
                <a:latin typeface="Calibri"/>
              </a:rPr>
              <a:t>An outfit recommendation exposes customers to 5–7 products at once vs. browsing 1 at a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468880"/>
            <a:ext cx="2834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468880"/>
            <a:ext cx="2834640" cy="54864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606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48B6A"/>
                </a:solidFill>
                <a:latin typeface="Calibri"/>
              </a:rPr>
              <a:t>↑ 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520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Longer Time
On 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4206240"/>
            <a:ext cx="2103120" cy="2286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43434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782"/>
                </a:solidFill>
                <a:latin typeface="Calibri"/>
              </a:rPr>
              <a:t>Conversational shopping is engaging. Customers who interact with the stylist stay significantly longer.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468880"/>
            <a:ext cx="2834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468880"/>
            <a:ext cx="2834640" cy="54864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06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962E"/>
                </a:solidFill>
                <a:latin typeface="Calibri"/>
              </a:rPr>
              <a:t>↑ 40%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520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Repeat Visit
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4206240"/>
            <a:ext cx="2103120" cy="2286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3434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782"/>
                </a:solidFill>
                <a:latin typeface="Calibri"/>
              </a:rPr>
              <a:t>"What should I wear to X?" brings users back. Toastie gives them a reason to return every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2468880"/>
            <a:ext cx="283464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81160" y="2468880"/>
            <a:ext cx="2834640" cy="54864"/>
          </a:xfrm>
          <a:prstGeom prst="rect">
            <a:avLst/>
          </a:prstGeom>
          <a:solidFill>
            <a:srgbClr val="D46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6060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D46A48"/>
                </a:solidFill>
                <a:latin typeface="Calibri"/>
              </a:rPr>
              <a:t>↑ 3×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52044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Category
Discovery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46920" y="4206240"/>
            <a:ext cx="2103120" cy="22860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4343400"/>
            <a:ext cx="2560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8782"/>
                </a:solidFill>
                <a:latin typeface="Calibri"/>
              </a:rPr>
              <a:t>Users who came for a dress discover shoes, bags, and accessories they wouldn't have found otherwise.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8782"/>
                </a:solidFill>
                <a:latin typeface="Calibri"/>
              </a:rPr>
              <a:t>Higher engagement = lower bounce rate = more opportunities to convert.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Business Impact — Conversion &amp;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How Toastie directly grows the top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54864" cy="109728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CCAA"/>
                </a:solidFill>
                <a:latin typeface="Calibri"/>
              </a:rPr>
              <a:t>Higher Basket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A complete outfit = 5–7 items per transaction.
Vs. average of 1.4 items without styling guidance.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06039"/>
            <a:ext cx="54864" cy="109728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5175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CCAA"/>
                </a:solidFill>
                <a:latin typeface="Calibri"/>
              </a:rPr>
              <a:t>Lower Return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6323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When customers buy a matched outfit, they're
more confident — fewer returns, lower costs.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54864" cy="109728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CCAA"/>
                </a:solidFill>
                <a:latin typeface="Calibri"/>
              </a:rPr>
              <a:t>Upsell Built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38912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Toastie naturally recommends accessories and
add-ons — the stylist equivalent of "would you
like fries with that?"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57800"/>
            <a:ext cx="54864" cy="109728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303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ACCAA"/>
                </a:solidFill>
                <a:latin typeface="Calibri"/>
              </a:rPr>
              <a:t>New Customer 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7150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  <a:latin typeface="Calibri"/>
              </a:rPr>
              <a:t>"The brand that styled me perfectly" drives
word-of-mouth and social sharing among Gen 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188720"/>
            <a:ext cx="5303520" cy="53035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8782"/>
                </a:solidFill>
                <a:latin typeface="Calibri"/>
              </a:rPr>
              <a:t>Projected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1874519"/>
            <a:ext cx="4389120" cy="27432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66560" y="2103120"/>
            <a:ext cx="4754880" cy="13258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194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748B6A"/>
                </a:solidFill>
                <a:latin typeface="Calibri"/>
              </a:rPr>
              <a:t>2.5×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860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Average Order
Value Uplift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657600"/>
            <a:ext cx="4754880" cy="13258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374903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9962E"/>
                </a:solidFill>
                <a:latin typeface="Calibri"/>
              </a:rPr>
              <a:t>↓ 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8404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Reduction in
Cart Abandonment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5212079"/>
            <a:ext cx="4754880" cy="13258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30351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D46A48"/>
                </a:solidFill>
                <a:latin typeface="Calibri"/>
              </a:rPr>
              <a:t>↑ 35%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5394959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  <a:latin typeface="Calibri"/>
              </a:rPr>
              <a:t>Conversion Rate
Improvement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8A8782"/>
                </a:solidFill>
                <a:latin typeface="Calibri"/>
              </a:rPr>
              <a:t>Based on industry benchmarks for AI-assisted styling tools in fashion e-commerce.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Toastie vs. A Regular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6A48"/>
                </a:solidFill>
                <a:latin typeface="Calibri"/>
              </a:rPr>
              <a:t>This is a fundamentally different kind of AI — not just a FAQ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3774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188720"/>
            <a:ext cx="3749039" cy="502920"/>
          </a:xfrm>
          <a:prstGeom prst="rect">
            <a:avLst/>
          </a:prstGeom>
          <a:solidFill>
            <a:srgbClr val="8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34440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Regular Chatbot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188720"/>
            <a:ext cx="5029200" cy="50292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2344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Toastie — AI Stylist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2560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83080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691640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783080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Answer FAQ / support tickets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691640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783080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Build personalised outfit recommendations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58568"/>
            <a:ext cx="256032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350008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Understands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258568"/>
            <a:ext cx="3749039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350008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Keywords &amp; simple commands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258568"/>
            <a:ext cx="502920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350008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Occasion, vibe, body type, style preference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25496"/>
            <a:ext cx="2560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916936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825496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916936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Text reply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825496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2916936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Complete styled outfit with real products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392424"/>
            <a:ext cx="256032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83864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Products shown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3392424"/>
            <a:ext cx="3749039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3483864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1 item at a time (if at all)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392424"/>
            <a:ext cx="502920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3483864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5–7 matched items per outfit, instantly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959352"/>
            <a:ext cx="2560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050791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Personalisation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3959352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4050791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None / rule-based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959352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4050791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AI-powered, learns from the conversation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526280"/>
            <a:ext cx="256032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617720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Image input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4526280"/>
            <a:ext cx="3749039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08960" y="4617720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❌ Not supported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4526280"/>
            <a:ext cx="502920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4617720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✅ Upload any product image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093208"/>
            <a:ext cx="25603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184648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Business value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17520" y="5093208"/>
            <a:ext cx="3749039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0" y="5184648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Low — reduces support load only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5093208"/>
            <a:ext cx="50292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5184648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High — drives sales, AOV, &amp; discovery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660136"/>
            <a:ext cx="256032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751575"/>
            <a:ext cx="237743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Calibri"/>
              </a:rPr>
              <a:t>Gen Z appeal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5660136"/>
            <a:ext cx="3749039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5751575"/>
            <a:ext cx="356615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❌ Feels robotic and generic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5660136"/>
            <a:ext cx="5029200" cy="566928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5751575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748B6A"/>
                </a:solidFill>
                <a:latin typeface="Calibri"/>
              </a:rPr>
              <a:t>✅ Feels like texting a stylish friend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999232" y="1188720"/>
            <a:ext cx="18288" cy="5038344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839712" y="1188720"/>
            <a:ext cx="18288" cy="5038344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8492C"/>
                </a:solidFill>
                <a:latin typeface="Calibri"/>
              </a:rPr>
              <a:t>Toastie is a revenue driver. A chatbot is a cost centre.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alibri"/>
              </a:rPr>
              <a:t>Future Possibilities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  <a:latin typeface="Calibri"/>
              </a:rPr>
              <a:t>Today's MVP is just the beginning — here's where Toastie can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2834640" cy="53035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834640" cy="100584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
(Now)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Core Stylist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587752"/>
            <a:ext cx="109728" cy="10972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AI chat + image styling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37560"/>
            <a:ext cx="109728" cy="10972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18687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Complete outfit builder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087368"/>
            <a:ext cx="109728" cy="10972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96849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Swap &amp; customise any 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837175"/>
            <a:ext cx="109728" cy="10972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18303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Occasion intelligence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586983"/>
            <a:ext cx="109728" cy="10972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681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Real-time catalogue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1234440"/>
            <a:ext cx="2834640" cy="53035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1234440"/>
            <a:ext cx="2834640" cy="100584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
(3–6 months)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1737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Personalisation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2587752"/>
            <a:ext cx="109728" cy="109728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24688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User style profiles &amp; history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3337560"/>
            <a:ext cx="109728" cy="109728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3218687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"My Wardrobe" feature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087368"/>
            <a:ext cx="109728" cy="109728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396849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Wishlist + saved looks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66160" y="4837175"/>
            <a:ext cx="109728" cy="109728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94760" y="4718303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Toastie learns your taste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5586983"/>
            <a:ext cx="109728" cy="109728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54681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Push notification styling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1234440"/>
            <a:ext cx="2834640" cy="53035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1234440"/>
            <a:ext cx="2834640" cy="100584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Phase 3
(6–12 months)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737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Social &amp; Commerce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2587752"/>
            <a:ext cx="109728" cy="109728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24688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Share looks to Instagram/WhatsApp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37960" y="3337560"/>
            <a:ext cx="109728" cy="109728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3218687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Influencer style collections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087368"/>
            <a:ext cx="109728" cy="109728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96849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"Get Celebrity's Look" feature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7960" y="4837175"/>
            <a:ext cx="109728" cy="109728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4718303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Group styling (friends shop together)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586983"/>
            <a:ext cx="109728" cy="109728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66560" y="54681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Loyalty points per look shopped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81160" y="1234440"/>
            <a:ext cx="2834640" cy="5303520"/>
          </a:xfrm>
          <a:prstGeom prst="roundRect">
            <a:avLst>
              <a:gd name="adj" fmla="val 5000"/>
            </a:avLst>
          </a:prstGeom>
          <a:solidFill>
            <a:srgbClr val="222222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81160" y="1234440"/>
            <a:ext cx="2834640" cy="100584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72600" y="128016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
(12+ months)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17373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Next Gen Tech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09760" y="2587752"/>
            <a:ext cx="109728" cy="109728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38360" y="2468879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Virtual try-on (AR)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3337560"/>
            <a:ext cx="109728" cy="109728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8360" y="3218687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Size &amp; fit recommendation AI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9760" y="4087368"/>
            <a:ext cx="109728" cy="109728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738360" y="396849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Video lookbook generation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760" y="4837175"/>
            <a:ext cx="109728" cy="109728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38360" y="4718303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Cross-brand TATA styling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09760" y="5586983"/>
            <a:ext cx="109728" cy="109728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38360" y="54681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  <a:latin typeface="Calibri"/>
              </a:rPr>
              <a:t>B2B licensing to other brands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8782"/>
                </a:solidFill>
                <a:latin typeface="Calibri"/>
              </a:rPr>
              <a:t>Each phase is modular — add features as the business grows, without rebuilding from scratch.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6A48"/>
                </a:solidFill>
                <a:latin typeface="Calibri"/>
              </a:rPr>
              <a:t>Why this is the right product, at the right time, for the right 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530352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
Opportunity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43891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2834640"/>
            <a:ext cx="4754880" cy="713232"/>
          </a:xfrm>
          <a:prstGeom prst="roundRect">
            <a:avLst>
              <a:gd name="adj" fmla="val 5000"/>
            </a:avLst>
          </a:prstGeom>
          <a:solidFill>
            <a:srgbClr val="CC5530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₹1.8 Lakh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44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EEDD"/>
                </a:solidFill>
                <a:latin typeface="Calibri"/>
              </a:rPr>
              <a:t>Indian fashion
e-commerce market (2025)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21608"/>
            <a:ext cx="4754880" cy="713232"/>
          </a:xfrm>
          <a:prstGeom prst="roundRect">
            <a:avLst>
              <a:gd name="adj" fmla="val 5000"/>
            </a:avLst>
          </a:prstGeom>
          <a:solidFill>
            <a:srgbClr val="CC5530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13048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83133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EEDD"/>
                </a:solidFill>
                <a:latin typeface="Calibri"/>
              </a:rPr>
              <a:t>Year-on-year growth
in online fashion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608576"/>
            <a:ext cx="4754880" cy="713232"/>
          </a:xfrm>
          <a:prstGeom prst="roundRect">
            <a:avLst>
              <a:gd name="adj" fmla="val 5000"/>
            </a:avLst>
          </a:prstGeom>
          <a:solidFill>
            <a:srgbClr val="CC5530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00016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50 Cr+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7183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EEDD"/>
                </a:solidFill>
                <a:latin typeface="Calibri"/>
              </a:rPr>
              <a:t>Gen Z consumers
in India 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495544"/>
            <a:ext cx="4754880" cy="713232"/>
          </a:xfrm>
          <a:prstGeom prst="roundRect">
            <a:avLst>
              <a:gd name="adj" fmla="val 5000"/>
            </a:avLst>
          </a:prstGeom>
          <a:solidFill>
            <a:srgbClr val="CC5530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86983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6052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EEDD"/>
                </a:solidFill>
                <a:latin typeface="Calibri"/>
              </a:rPr>
              <a:t>Of Gen Z already
shops fashion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23444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Why Burnt Toast
is Perfectly Positioned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057400"/>
            <a:ext cx="5577840" cy="36576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286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492C"/>
                </a:solidFill>
                <a:latin typeface="Calibri"/>
              </a:rPr>
              <a:t>🏆 First Mover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5176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No Indian fast-fashion brand has an AI personal stylist. Burnt Toast gets there first.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291840"/>
            <a:ext cx="5577840" cy="18288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3832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492C"/>
                </a:solidFill>
                <a:latin typeface="Calibri"/>
              </a:rPr>
              <a:t>🎯 Gen Z Native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74904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The brand, the aesthetic, the price point — everything about Burnt Toast is built for Gen Z.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389120"/>
            <a:ext cx="5577840" cy="18288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4805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492C"/>
                </a:solidFill>
                <a:latin typeface="Calibri"/>
              </a:rPr>
              <a:t>🔗 TATA 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84632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Access to TATA's data infrastructure, brand trust, and cross-brand synergies (Zudio, Westside, etc.)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486400"/>
            <a:ext cx="5577840" cy="18288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5577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492C"/>
                </a:solidFill>
                <a:latin typeface="Calibri"/>
              </a:rPr>
              <a:t>📈 Proven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94360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Global brands like Stitch Fix &amp; ASOS AI have shown that styling AI dramatically lifts revenue.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Customer Experience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From discovery to purchase — how Toastie transforms every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A1A1A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11247120" cy="54864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3337560"/>
            <a:ext cx="292608" cy="29260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8B6A"/>
                </a:solidFill>
                <a:latin typeface="Calibri"/>
              </a:rPr>
              <a:t>Discovers 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Via Instagram,
friend's reco,
or TATA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2927" y="3337560"/>
            <a:ext cx="292608" cy="29260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87168" y="393192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40233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7" y="4572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8B6A"/>
                </a:solidFill>
                <a:latin typeface="Calibri"/>
              </a:rPr>
              <a:t>Chats with Toastie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7" y="498347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Types occasion
or uploads a
product photo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37176" y="3337560"/>
            <a:ext cx="292608" cy="29260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1416" y="128016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1416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1920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8B6A"/>
                </a:solidFill>
                <a:latin typeface="Calibri"/>
              </a:rPr>
              <a:t>Gets Styled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Complete outfit
in 5 seconds
with real products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21424" y="3337560"/>
            <a:ext cx="292608" cy="29260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5664" y="393192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0233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3" y="4572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8B6A"/>
                </a:solidFill>
                <a:latin typeface="Calibri"/>
              </a:rPr>
              <a:t>Customises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498347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Swaps items,
changes vibe,
asked follow-ups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05672" y="3337560"/>
            <a:ext cx="292608" cy="29260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39912" y="128016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13716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19202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8B6A"/>
                </a:solidFill>
                <a:latin typeface="Calibri"/>
              </a:rPr>
              <a:t>Adds to Cart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One tap to add
the full look
to cart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0" y="3337560"/>
            <a:ext cx="292608" cy="292608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424160" y="3931920"/>
            <a:ext cx="1828800" cy="1737360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24160" y="4023359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69880" y="45720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48B6A"/>
                </a:solidFill>
                <a:latin typeface="Calibri"/>
              </a:rPr>
              <a:t>Shares the Look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4983479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AA"/>
                </a:solidFill>
                <a:latin typeface="Calibri"/>
              </a:rPr>
              <a:t>Screenshots &amp;
shares with friends
→ new customers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8782"/>
                </a:solidFill>
                <a:latin typeface="Calibri"/>
              </a:rPr>
              <a:t>Every step of the journey is an opportunity for Burnt Toast to delight, retain and grow.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Development Roadmap — From Demo to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46A48"/>
                </a:solidFill>
                <a:latin typeface="Calibri"/>
              </a:rPr>
              <a:t>Where we are today and what happens next with your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8A8782"/>
                </a:solidFill>
                <a:latin typeface="Calibri"/>
              </a:rPr>
              <a:t>BURNT TOAST  ×  TATA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68580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1A"/>
                </a:solidFill>
                <a:latin typeface="Calibri"/>
              </a:rPr>
              <a:t>📍  CURRENT STATUS: Testing &amp; Demo Phase — Fully Functional Product Ready for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48840"/>
            <a:ext cx="283464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2834640" cy="685800"/>
          </a:xfrm>
          <a:prstGeom prst="rect">
            <a:avLst/>
          </a:prstGeom>
          <a:solidFill>
            <a:srgbClr val="748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✅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0
Foundation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✓ AI stylist (Toastie)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301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✓ Catalogue: 280+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885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✓ Chat + Image styling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✓ Mobile-responsive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052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✓ Rate limiting &amp; security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2148840"/>
            <a:ext cx="283464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2148840"/>
            <a:ext cx="2834640" cy="685800"/>
          </a:xfrm>
          <a:prstGeom prst="rect">
            <a:avLst/>
          </a:prstGeom>
          <a:solidFill>
            <a:srgbClr val="C9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176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🟡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487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Phase 1
Demo &amp; Approval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Panel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6301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Live demo walkthrough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2885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Feedback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9469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Business case approval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56052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Go / No-Go decision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148840"/>
            <a:ext cx="283464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148840"/>
            <a:ext cx="2834640" cy="68580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176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🔵 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87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2
Production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Performance optimisation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6301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Full QA &amp;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885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Analytics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469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User accounts &amp; profiles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6052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App Store listing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81160" y="2148840"/>
            <a:ext cx="2834640" cy="4434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81160" y="2148840"/>
            <a:ext cx="2834640" cy="685800"/>
          </a:xfrm>
          <a:prstGeom prst="rect">
            <a:avLst/>
          </a:prstGeom>
          <a:solidFill>
            <a:srgbClr val="8A8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21762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⭕ 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487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Phase 3
Growth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64040" y="29718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Virtual try-on (AR)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6301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Social sharing 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428853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Loyalty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64040" y="494690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Influencer collections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560527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782"/>
                </a:solidFill>
                <a:latin typeface="Calibri"/>
              </a:rPr>
              <a:t>→ Cross-TATA expansion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6A48"/>
                </a:solidFill>
                <a:latin typeface="Calibri"/>
              </a:rPr>
              <a:t>With your approval today → Phase 2 begins within 2 weeks.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
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14600"/>
            <a:ext cx="36576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69748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Every Burnt Toast
customer walks away
feeling styled,
confident, and
inspired —
every single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66928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DCC"/>
                </a:solidFill>
                <a:latin typeface="Calibri"/>
              </a:rPr>
              <a:t>Powered by AI.
Built for Gen Z.
Driven by TATA.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6400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We're Asking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80160"/>
            <a:ext cx="6675120" cy="36576"/>
          </a:xfrm>
          <a:prstGeom prst="rect">
            <a:avLst/>
          </a:prstGeom>
          <a:solidFill>
            <a:srgbClr val="B84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60" y="1508760"/>
            <a:ext cx="667512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184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1645919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Approval to move from Demo → 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331720"/>
            <a:ext cx="667512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441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468879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Alignment on Phase 2 feature priorities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3154680"/>
            <a:ext cx="667512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32644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2918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Budget sign-off for full development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977639"/>
            <a:ext cx="667512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40873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41148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TATA ecosystem integration discussions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4800600"/>
            <a:ext cx="6675120" cy="6858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91032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493776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Calibri"/>
              </a:rPr>
              <a:t>Target launch date agreement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5669280"/>
            <a:ext cx="7040880" cy="9144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5806440"/>
            <a:ext cx="6675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46A48"/>
                </a:solidFill>
                <a:latin typeface="Calibri"/>
              </a:rPr>
              <a:t>"The brand that styles you is the brand you stay loyal to."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782"/>
                </a:solidFill>
                <a:latin typeface="Calibri"/>
              </a:rPr>
              <a:t>BURNT TOAST  ×  TATA  |  AI Fashion Stylist  |  Confidential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